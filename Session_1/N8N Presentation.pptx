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83" r:id="rId2"/>
    <p:sldId id="258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65" r:id="rId14"/>
  </p:sldIdLst>
  <p:sldSz cx="18288000" cy="10287000"/>
  <p:notesSz cx="6858000" cy="9144000"/>
  <p:embeddedFontLst>
    <p:embeddedFont>
      <p:font typeface="Bangers" panose="020B0604020202020204" charset="0"/>
      <p:regular r:id="rId16"/>
    </p:embeddedFont>
    <p:embeddedFont>
      <p:font typeface="Franklin Gothic Book" panose="020B0503020102020204" pitchFamily="34" charset="0"/>
      <p:regular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2218" autoAdjust="0"/>
  </p:normalViewPr>
  <p:slideViewPr>
    <p:cSldViewPr>
      <p:cViewPr varScale="1">
        <p:scale>
          <a:sx n="42" d="100"/>
          <a:sy n="42" d="100"/>
        </p:scale>
        <p:origin x="9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34002523-EBD5-42F4-9DA1-0DF36BB1A508}" type="datetimeFigureOut">
              <a:rPr lang="ar-JO" smtClean="0"/>
              <a:t>24/10/1447</a:t>
            </a:fld>
            <a:endParaRPr lang="ar-J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J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J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J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E956323A-1177-490B-A143-E75192F7AA10}" type="slidenum">
              <a:rPr lang="ar-JO" smtClean="0"/>
              <a:t>‹#›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180803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1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3865103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/>
              <a:t>(</a:t>
            </a:r>
            <a:r>
              <a:rPr lang="ar-JO" dirty="0"/>
              <a:t> </a:t>
            </a:r>
            <a:r>
              <a:rPr lang="en-US" dirty="0"/>
              <a:t>Heron of Alexandria</a:t>
            </a:r>
            <a:r>
              <a:rPr lang="ar-JO" dirty="0"/>
              <a:t> </a:t>
            </a:r>
            <a:r>
              <a:rPr lang="en-US" dirty="0"/>
              <a:t>)</a:t>
            </a:r>
            <a:r>
              <a:rPr lang="ar-JO" dirty="0"/>
              <a:t>    </a:t>
            </a:r>
          </a:p>
          <a:p>
            <a:endParaRPr lang="ar-JO" dirty="0"/>
          </a:p>
          <a:p>
            <a:r>
              <a:rPr lang="ar-SA" dirty="0"/>
              <a:t>هيرون الإسكندري</a:t>
            </a:r>
            <a:r>
              <a:rPr lang="ar-JO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6323A-1177-490B-A143-E75192F7AA10}" type="slidenum">
              <a:rPr lang="ar-JO" smtClean="0"/>
              <a:t>4</a:t>
            </a:fld>
            <a:endParaRPr lang="ar-JO"/>
          </a:p>
        </p:txBody>
      </p:sp>
    </p:spTree>
    <p:extLst>
      <p:ext uri="{BB962C8B-B14F-4D97-AF65-F5344CB8AC3E}">
        <p14:creationId xmlns:p14="http://schemas.microsoft.com/office/powerpoint/2010/main" val="193893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0801" y="0"/>
            <a:ext cx="21504412" cy="10786683"/>
            <a:chOff x="0" y="0"/>
            <a:chExt cx="28672549" cy="143822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4" y="0"/>
                  </a:lnTo>
                  <a:lnTo>
                    <a:pt x="14382244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Freeform 7"/>
            <p:cNvSpPr/>
            <p:nvPr/>
          </p:nvSpPr>
          <p:spPr>
            <a:xfrm>
              <a:off x="14290304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5" y="0"/>
                  </a:lnTo>
                  <a:lnTo>
                    <a:pt x="14382245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-2778741" y="35986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/>
          <p:cNvSpPr/>
          <p:nvPr/>
        </p:nvSpPr>
        <p:spPr>
          <a:xfrm flipH="1" flipV="1">
            <a:off x="16884370" y="24317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/>
          <p:cNvSpPr/>
          <p:nvPr/>
        </p:nvSpPr>
        <p:spPr>
          <a:xfrm flipH="1">
            <a:off x="-3460538" y="-3991215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/>
          <p:cNvSpPr/>
          <p:nvPr/>
        </p:nvSpPr>
        <p:spPr>
          <a:xfrm flipH="1">
            <a:off x="15530355" y="-516148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3680876" y="0"/>
                </a:moveTo>
                <a:lnTo>
                  <a:pt x="0" y="0"/>
                </a:lnTo>
                <a:lnTo>
                  <a:pt x="0" y="4114800"/>
                </a:lnTo>
                <a:lnTo>
                  <a:pt x="3680876" y="4114800"/>
                </a:lnTo>
                <a:lnTo>
                  <a:pt x="368087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/>
          <p:cNvSpPr/>
          <p:nvPr/>
        </p:nvSpPr>
        <p:spPr>
          <a:xfrm rot="-1431317" flipV="1">
            <a:off x="15220054" y="654651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/>
          <p:cNvSpPr/>
          <p:nvPr/>
        </p:nvSpPr>
        <p:spPr>
          <a:xfrm flipV="1">
            <a:off x="-990801" y="6734595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0" y="4114800"/>
                </a:moveTo>
                <a:lnTo>
                  <a:pt x="3680876" y="4114800"/>
                </a:lnTo>
                <a:lnTo>
                  <a:pt x="368087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Freeform 14"/>
          <p:cNvSpPr/>
          <p:nvPr/>
        </p:nvSpPr>
        <p:spPr>
          <a:xfrm rot="-195015" flipH="1" flipV="1">
            <a:off x="4576002" y="-6466389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9449007" y="8899247"/>
                </a:moveTo>
                <a:lnTo>
                  <a:pt x="0" y="8899247"/>
                </a:lnTo>
                <a:lnTo>
                  <a:pt x="0" y="0"/>
                </a:lnTo>
                <a:lnTo>
                  <a:pt x="9449007" y="0"/>
                </a:lnTo>
                <a:lnTo>
                  <a:pt x="9449007" y="88992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2178409" y="8481507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0" y="0"/>
                </a:moveTo>
                <a:lnTo>
                  <a:pt x="9449008" y="0"/>
                </a:lnTo>
                <a:lnTo>
                  <a:pt x="9449008" y="8899247"/>
                </a:lnTo>
                <a:lnTo>
                  <a:pt x="0" y="8899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274038" y="5656052"/>
            <a:ext cx="3808743" cy="6691508"/>
          </a:xfrm>
          <a:custGeom>
            <a:avLst/>
            <a:gdLst/>
            <a:ahLst/>
            <a:cxnLst/>
            <a:rect l="l" t="t" r="r" b="b"/>
            <a:pathLst>
              <a:path w="3808743" h="6691508">
                <a:moveTo>
                  <a:pt x="0" y="0"/>
                </a:moveTo>
                <a:lnTo>
                  <a:pt x="3808743" y="0"/>
                </a:lnTo>
                <a:lnTo>
                  <a:pt x="3808743" y="6691508"/>
                </a:lnTo>
                <a:lnTo>
                  <a:pt x="0" y="66915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060740" y="6154089"/>
            <a:ext cx="11321114" cy="1022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892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373" b="0" i="0" u="none" strike="noStrike" kern="1200" cap="none" spc="-127" normalizeH="0" baseline="0" noProof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uLnTx/>
                <a:uFillTx/>
                <a:latin typeface="Bangers"/>
                <a:ea typeface="Bangers"/>
                <a:cs typeface="Bangers"/>
                <a:sym typeface="Bangers"/>
              </a:rPr>
              <a:t>By  Mohammad Ismail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6059" y="2527785"/>
            <a:ext cx="14868506" cy="351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060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859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uLnTx/>
                <a:uFillTx/>
                <a:latin typeface="Bangers"/>
                <a:ea typeface="Bangers"/>
                <a:cs typeface="Bangers"/>
                <a:sym typeface="Bangers"/>
              </a:rPr>
              <a:t>N8N COURSE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875067" y="5656052"/>
            <a:ext cx="6691508" cy="6691508"/>
          </a:xfrm>
          <a:custGeom>
            <a:avLst/>
            <a:gdLst/>
            <a:ahLst/>
            <a:cxnLst/>
            <a:rect l="l" t="t" r="r" b="b"/>
            <a:pathLst>
              <a:path w="6691508" h="6691508">
                <a:moveTo>
                  <a:pt x="0" y="0"/>
                </a:moveTo>
                <a:lnTo>
                  <a:pt x="6691508" y="0"/>
                </a:lnTo>
                <a:lnTo>
                  <a:pt x="6691508" y="6691508"/>
                </a:lnTo>
                <a:lnTo>
                  <a:pt x="0" y="669150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4659623" y="-3820898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0"/>
                </a:moveTo>
                <a:lnTo>
                  <a:pt x="7256754" y="0"/>
                </a:lnTo>
                <a:lnTo>
                  <a:pt x="7256754" y="7982429"/>
                </a:lnTo>
                <a:lnTo>
                  <a:pt x="0" y="79824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Freeform 21"/>
          <p:cNvSpPr/>
          <p:nvPr/>
        </p:nvSpPr>
        <p:spPr>
          <a:xfrm>
            <a:off x="15011219" y="-626152"/>
            <a:ext cx="3892452" cy="3563512"/>
          </a:xfrm>
          <a:custGeom>
            <a:avLst/>
            <a:gdLst/>
            <a:ahLst/>
            <a:cxnLst/>
            <a:rect l="l" t="t" r="r" b="b"/>
            <a:pathLst>
              <a:path w="3892452" h="3563512">
                <a:moveTo>
                  <a:pt x="0" y="0"/>
                </a:moveTo>
                <a:lnTo>
                  <a:pt x="3892451" y="0"/>
                </a:lnTo>
                <a:lnTo>
                  <a:pt x="3892451" y="3563512"/>
                </a:lnTo>
                <a:lnTo>
                  <a:pt x="0" y="35635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-9525" y="485344"/>
            <a:ext cx="2892901" cy="1055909"/>
          </a:xfrm>
          <a:custGeom>
            <a:avLst/>
            <a:gdLst/>
            <a:ahLst/>
            <a:cxnLst/>
            <a:rect l="l" t="t" r="r" b="b"/>
            <a:pathLst>
              <a:path w="2892901" h="1055909">
                <a:moveTo>
                  <a:pt x="0" y="0"/>
                </a:moveTo>
                <a:lnTo>
                  <a:pt x="2892901" y="0"/>
                </a:lnTo>
                <a:lnTo>
                  <a:pt x="2892901" y="1055908"/>
                </a:lnTo>
                <a:lnTo>
                  <a:pt x="0" y="10559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5516845" y="-51958"/>
            <a:ext cx="1815909" cy="1541252"/>
          </a:xfrm>
          <a:custGeom>
            <a:avLst/>
            <a:gdLst/>
            <a:ahLst/>
            <a:cxnLst/>
            <a:rect l="l" t="t" r="r" b="b"/>
            <a:pathLst>
              <a:path w="1815909" h="1541252">
                <a:moveTo>
                  <a:pt x="0" y="0"/>
                </a:moveTo>
                <a:lnTo>
                  <a:pt x="1815908" y="0"/>
                </a:lnTo>
                <a:lnTo>
                  <a:pt x="1815908" y="1541252"/>
                </a:lnTo>
                <a:lnTo>
                  <a:pt x="0" y="15412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Freeform 24"/>
          <p:cNvSpPr/>
          <p:nvPr/>
        </p:nvSpPr>
        <p:spPr>
          <a:xfrm rot="-1420551">
            <a:off x="6623898" y="-3408358"/>
            <a:ext cx="5040204" cy="5040204"/>
          </a:xfrm>
          <a:custGeom>
            <a:avLst/>
            <a:gdLst/>
            <a:ahLst/>
            <a:cxnLst/>
            <a:rect l="l" t="t" r="r" b="b"/>
            <a:pathLst>
              <a:path w="5040204" h="5040204">
                <a:moveTo>
                  <a:pt x="0" y="0"/>
                </a:moveTo>
                <a:lnTo>
                  <a:pt x="5040204" y="0"/>
                </a:lnTo>
                <a:lnTo>
                  <a:pt x="5040204" y="5040204"/>
                </a:lnTo>
                <a:lnTo>
                  <a:pt x="0" y="5040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8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2971800" y="76134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/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/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/>
          <p:cNvSpPr/>
          <p:nvPr/>
        </p:nvSpPr>
        <p:spPr>
          <a:xfrm flipV="1">
            <a:off x="14290346" y="792546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/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3966F5-BB02-8FF9-4450-4A06314AEC72}"/>
              </a:ext>
            </a:extLst>
          </p:cNvPr>
          <p:cNvSpPr txBox="1"/>
          <p:nvPr/>
        </p:nvSpPr>
        <p:spPr>
          <a:xfrm>
            <a:off x="723306" y="2346296"/>
            <a:ext cx="168413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What automation really means in business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75000"/>
                  </a:schemeClr>
                </a:solidFill>
                <a:latin typeface="Franklin Gothic Book" panose="020B0503020102020204" pitchFamily="34" charset="0"/>
              </a:rPr>
              <a:t>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in business means letting systems do repetitive work automatically instead of people doing it every time.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These are tasks that follow clear steps and rules, like sending emails, updating spreadsheets, moving data between systems, or creating reports.</a:t>
            </a:r>
          </a:p>
          <a:p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The goal is not to replace people, but to save time, reduce mistakes, and make work     faster and more consistent.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2D07-EFA1-F178-53BD-8ED908364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A187D4E-B8BA-35AA-8A93-0E8F784B73F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D8BCB9-BDEF-1EC1-7352-7114D5AAD86D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9E555E6-A9A9-8931-E5F7-580C67AEC1D5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209C170-865C-E800-2232-CB4371333A73}"/>
              </a:ext>
            </a:extLst>
          </p:cNvPr>
          <p:cNvSpPr/>
          <p:nvPr/>
        </p:nvSpPr>
        <p:spPr>
          <a:xfrm>
            <a:off x="-2971800" y="786824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8CF02F9-9C29-5118-E251-45554C6AD707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C6E6F29-7ABE-4868-263F-EB130657E02A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3DF665A-DFE8-7A82-E64E-2A468E72B7E3}"/>
              </a:ext>
            </a:extLst>
          </p:cNvPr>
          <p:cNvSpPr/>
          <p:nvPr/>
        </p:nvSpPr>
        <p:spPr>
          <a:xfrm flipV="1">
            <a:off x="14297966" y="794070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C5A4C3D0-4F7B-0764-5959-AEE8356AAADB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866990-8FDC-7E3E-947B-75F63B2AB70B}"/>
              </a:ext>
            </a:extLst>
          </p:cNvPr>
          <p:cNvSpPr txBox="1"/>
          <p:nvPr/>
        </p:nvSpPr>
        <p:spPr>
          <a:xfrm>
            <a:off x="723306" y="2346296"/>
            <a:ext cx="1684138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Difference between manual work, automation, and AI-assisted automation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Manual work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is when a human does everything by hand. A person reads information, thinks about it, decides what to do, and then performs the action.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Example: a customer support agent reads an email and replies manually.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Automation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is when the steps are fixed and predictable. If something happens, the system follows predefined rules and actions.</a:t>
            </a:r>
            <a:b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</a:b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when a customer fills a form, the system automatically saves the data and sends a confirmation email.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418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A7A47-51E3-DE09-C32F-D69BCB0B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A3F991-BCAA-0230-D5CA-F5EEB83197DF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05646A-74FA-0E50-1B96-81C985B9A341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AC5FEB7-D975-BC0C-9DF1-F6C3C628D213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84AC970-C27F-9CCA-EC5F-142535224C22}"/>
              </a:ext>
            </a:extLst>
          </p:cNvPr>
          <p:cNvSpPr/>
          <p:nvPr/>
        </p:nvSpPr>
        <p:spPr>
          <a:xfrm>
            <a:off x="-2057404" y="7124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8B430AE-D1A2-616B-4FF8-BDEBCF375465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A5501CC-D8D1-008A-A113-F277EBEF3FF1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F5F5C6F-6A5F-A9B2-7488-758D7C400D6C}"/>
              </a:ext>
            </a:extLst>
          </p:cNvPr>
          <p:cNvSpPr/>
          <p:nvPr/>
        </p:nvSpPr>
        <p:spPr>
          <a:xfrm flipV="1">
            <a:off x="13716000" y="6588433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A488918D-4B31-FA4F-E9E6-F8232D352518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D57E44-3503-9D17-821A-F241B98A7057}"/>
              </a:ext>
            </a:extLst>
          </p:cNvPr>
          <p:cNvSpPr txBox="1"/>
          <p:nvPr/>
        </p:nvSpPr>
        <p:spPr>
          <a:xfrm>
            <a:off x="723306" y="2346296"/>
            <a:ext cx="168413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Difference between manual work, automation, and AI-assisted automation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: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Cont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AI-assisted automation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This is automation that includes AI to help with thinking or understanding.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The workflow is still automated, but AI helps with decisions like understanding text, classifying messages, or generating responses.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a system that reads customer messages, understands what they want, and routes the message to the right team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4147337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73562-EE6D-2B00-E42C-53E1CD258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4D9128D-21F0-C8E7-5AA2-E45494EA395A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DABD0F4-936F-4037-1E16-2910DE764519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98BAB6C-A3A5-C06D-5075-B8DAE3A81C2F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847744E-DEB1-0BC7-A9D6-865B04B37820}"/>
              </a:ext>
            </a:extLst>
          </p:cNvPr>
          <p:cNvSpPr/>
          <p:nvPr/>
        </p:nvSpPr>
        <p:spPr>
          <a:xfrm>
            <a:off x="-2057404" y="838711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BAD30D4-EE11-0EF3-BDF7-BED7E12B5BF0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7929B5F-D0BE-5CBB-79AF-39B9B3FD8941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69CAC32-B21F-F48B-AC05-020825AD2178}"/>
              </a:ext>
            </a:extLst>
          </p:cNvPr>
          <p:cNvSpPr/>
          <p:nvPr/>
        </p:nvSpPr>
        <p:spPr>
          <a:xfrm flipV="1">
            <a:off x="14562279" y="7524286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C063C40-7152-EED3-8569-2752D60DE7E9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2D0AA77-0E2B-37D9-2FE1-07DE7E516877}"/>
              </a:ext>
            </a:extLst>
          </p:cNvPr>
          <p:cNvSpPr txBox="1"/>
          <p:nvPr/>
        </p:nvSpPr>
        <p:spPr>
          <a:xfrm>
            <a:off x="723306" y="2346296"/>
            <a:ext cx="16841384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Real-world business examples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Operations</a:t>
            </a:r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can handle order processing, invoice creation, inventory updates, and internal notifications.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when an order is placed, the system updates stock, creates an invoice, and notifies the operations team.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Marketing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can manage lead collection, email campaigns, and follow-up.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when someone signs up on a website, they automatically receive a welcome email and are added to a mailing list.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011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2969-A17D-88FF-9800-B25FFCA12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BA6F76-7FED-0BFB-73B9-61D69D1096B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0014306-48F9-00FF-8653-3F1A705F966C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E6036BA-E67A-843A-DC72-41D970AE06A9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24ED8D1-8063-EADC-A43F-092FDFBB2B2A}"/>
              </a:ext>
            </a:extLst>
          </p:cNvPr>
          <p:cNvSpPr/>
          <p:nvPr/>
        </p:nvSpPr>
        <p:spPr>
          <a:xfrm>
            <a:off x="-1676400" y="781490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7B1DD6E-19EE-62A4-170E-C9EFF66F1F2D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8B90F4E-8F47-4326-16E0-5C99AFCCAA2E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D67A7B3-1AE2-5035-AE34-7FFD2321E7E8}"/>
              </a:ext>
            </a:extLst>
          </p:cNvPr>
          <p:cNvSpPr/>
          <p:nvPr/>
        </p:nvSpPr>
        <p:spPr>
          <a:xfrm flipV="1">
            <a:off x="13716000" y="672896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6967940-63FE-FC00-95F3-C0FA9B18B75A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4EECC8-668B-25D1-2367-64D98CA23FB3}"/>
              </a:ext>
            </a:extLst>
          </p:cNvPr>
          <p:cNvSpPr txBox="1"/>
          <p:nvPr/>
        </p:nvSpPr>
        <p:spPr>
          <a:xfrm>
            <a:off x="723306" y="2346296"/>
            <a:ext cx="168413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Real-world business examples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Cont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Customer support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Automation and AI can handle repetitive questions and ticket routing.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an AI-powered chatbot answers common questions and sends complex cases to human agents.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336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8F65-3A5C-69EC-DF46-4A11EBDBE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7754321-D1E1-7619-6767-AA6BE6D47F0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2D0A0D4-1119-08E6-4710-0064EEC9EE5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553E8DC-DCD8-CC7C-9444-9F132EE8CDFA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E369CF4-5555-F3F2-5019-E3E89CAB2D37}"/>
              </a:ext>
            </a:extLst>
          </p:cNvPr>
          <p:cNvSpPr/>
          <p:nvPr/>
        </p:nvSpPr>
        <p:spPr>
          <a:xfrm>
            <a:off x="-1676400" y="781490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4125AB3-E858-C172-4E3D-D0DCB0745887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6DE7564-0B22-01A6-8ADC-59E2D13A82EA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7BB966E-3AB6-DBD3-BB12-42EAEEB437EA}"/>
              </a:ext>
            </a:extLst>
          </p:cNvPr>
          <p:cNvSpPr/>
          <p:nvPr/>
        </p:nvSpPr>
        <p:spPr>
          <a:xfrm flipV="1">
            <a:off x="13716000" y="672896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BAA5D9BC-8E41-EDC7-A9D6-9EAF09D44183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AI and Automation Introduction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2E5443-E684-DDEF-A202-E69FFCF107E6}"/>
              </a:ext>
            </a:extLst>
          </p:cNvPr>
          <p:cNvSpPr txBox="1"/>
          <p:nvPr/>
        </p:nvSpPr>
        <p:spPr>
          <a:xfrm>
            <a:off x="723306" y="2346296"/>
            <a:ext cx="1684138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Where n8n fits in modern companies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is a tool that connects different systems and automates workflows between them.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acts like the glue between apps such as email, databases, CRMs, forms, APIs, and AI models.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Companies use n8n to build custom automations that match their exact business needs without heavy coding.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especially useful for startups and teams that want flexibility, control, and the ability to add AI into their workflows.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423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40B13-A916-FC4C-6DAA-E9E31220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88DCC7-E562-2D68-90A1-D3136EFC43E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68BE1E-01EF-5ECA-8FA2-6F871DE271E9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AA661E4-225C-291E-47A7-14CE925AC6FE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87026B03-8F4D-2A8E-EDDD-B09386CCA76A}"/>
              </a:ext>
            </a:extLst>
          </p:cNvPr>
          <p:cNvSpPr/>
          <p:nvPr/>
        </p:nvSpPr>
        <p:spPr>
          <a:xfrm>
            <a:off x="-2057404" y="86556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1485F3C-83D4-AD84-9EEC-3F483B789B8B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862F070-94F7-10A2-B21C-E44277422308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ECDD36F-9FC6-372F-B380-BE9217304F6A}"/>
              </a:ext>
            </a:extLst>
          </p:cNvPr>
          <p:cNvSpPr/>
          <p:nvPr/>
        </p:nvSpPr>
        <p:spPr>
          <a:xfrm flipV="1">
            <a:off x="14297966" y="797118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02E7C3F-15ED-4DC5-0EDB-1C07604424C0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8F5C15-38CA-2E78-A477-897D1F2F457E}"/>
              </a:ext>
            </a:extLst>
          </p:cNvPr>
          <p:cNvSpPr txBox="1"/>
          <p:nvPr/>
        </p:nvSpPr>
        <p:spPr>
          <a:xfrm>
            <a:off x="723306" y="2346296"/>
            <a:ext cx="16841384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vs Zapier vs Make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Zapier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Zapier is very easy to use and beginner friendly.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connect apps, choose a trigger, then an action, and it works fast.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great for simple automations but becomes expensive and limited when    workflows grow or need complex logic.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Make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Make is more visual than Zapier and allows more control over data flow.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build more complex scenarios with conditions and loops.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is good for medium complexity automations but still has limits when you need deep customization or advanced logic.</a:t>
            </a: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528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ECBD-061E-B734-0F6B-328834A3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8094B3F-B5FE-A60E-91E5-F423B020B6ED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F628FE8-6670-56E3-199D-6F5244DA5207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E80B039-0E33-8765-4893-DED20E022C0B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40DD96C-C402-678E-AC90-CD65EFA5430E}"/>
              </a:ext>
            </a:extLst>
          </p:cNvPr>
          <p:cNvSpPr/>
          <p:nvPr/>
        </p:nvSpPr>
        <p:spPr>
          <a:xfrm>
            <a:off x="-1770152" y="76134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8A701FA-13A1-E217-C86D-EDCA9490D13F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28EDBDB-9604-7547-0B57-9C258E5F6336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A94AA08-F594-D018-6B7C-3963C9FE33EB}"/>
              </a:ext>
            </a:extLst>
          </p:cNvPr>
          <p:cNvSpPr/>
          <p:nvPr/>
        </p:nvSpPr>
        <p:spPr>
          <a:xfrm flipV="1">
            <a:off x="13494223" y="6512373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8A6AE8B-1929-73CB-616C-F153F7F0BB34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AF3213-577E-AE38-56ED-EEDD6E145D31}"/>
              </a:ext>
            </a:extLst>
          </p:cNvPr>
          <p:cNvSpPr txBox="1"/>
          <p:nvPr/>
        </p:nvSpPr>
        <p:spPr>
          <a:xfrm>
            <a:off x="723306" y="2346296"/>
            <a:ext cx="16841384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vs Zapier vs Make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Cont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3. N8n</a:t>
            </a:r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is the most flexible and powerful of the three.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lets you build complex workflows with full control over data, logic, and execution.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self-host it, customize it deeply, and connect it with almost anything, including </a:t>
            </a:r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AI models and custom APIs.</a:t>
            </a:r>
          </a:p>
          <a:p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6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And Guess What </a:t>
            </a:r>
            <a:r>
              <a:rPr lang="en-US" sz="6600" b="1" dirty="0">
                <a:solidFill>
                  <a:schemeClr val="accent6">
                    <a:lumMod val="75000"/>
                  </a:schemeClr>
                </a:solidFill>
                <a:latin typeface="Franklin Gothic Book" panose="020B0503020102020204" pitchFamily="34" charset="0"/>
              </a:rPr>
              <a:t>APIs</a:t>
            </a:r>
            <a:r>
              <a:rPr lang="en-US" sz="6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Is All We WANT!!!!!</a:t>
            </a: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775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B3B6F-3CCE-FACA-5EB7-0F97B383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67F052E-2390-6E8F-4E86-11A2DDBD66C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3841373-2DEC-B335-261B-F998150DC39C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98C1D4A-B12E-39CD-9DD0-E3D4B13EE452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65A97AC-0507-E29A-A7BE-1BD5A1B9314D}"/>
              </a:ext>
            </a:extLst>
          </p:cNvPr>
          <p:cNvSpPr/>
          <p:nvPr/>
        </p:nvSpPr>
        <p:spPr>
          <a:xfrm>
            <a:off x="-1905000" y="807208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85B23DA-94E0-23B9-E2B5-CA9668F33CFC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A6DB7BA-ADB9-CD1A-0288-3908A8CF92BA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358D84B-D5C5-F0DE-156A-CD290A0D7D96}"/>
              </a:ext>
            </a:extLst>
          </p:cNvPr>
          <p:cNvSpPr/>
          <p:nvPr/>
        </p:nvSpPr>
        <p:spPr>
          <a:xfrm flipV="1">
            <a:off x="13382711" y="672896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69D9B2C7-E43D-F45E-EDC9-5050378C79DE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A7352F-AE73-E636-5119-5DBB8AB4E5D0}"/>
              </a:ext>
            </a:extLst>
          </p:cNvPr>
          <p:cNvSpPr txBox="1"/>
          <p:nvPr/>
        </p:nvSpPr>
        <p:spPr>
          <a:xfrm>
            <a:off x="723306" y="2346296"/>
            <a:ext cx="16841384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to choose each tool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1. Choose Zapier</a:t>
            </a:r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want something quick and simple.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non-technical users and very basic workflows.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connect a form to send an email.</a:t>
            </a:r>
          </a:p>
          <a:p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Choose Make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need more control than Zapier but still want a visual builder.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for data-heavy workflows with some logic.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processing data from multiple apps and formatting it.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457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3DBDB-02D5-6CA8-F0DC-FBDA59C89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3F5C76-743B-D31C-4830-5FFFCBE27AD8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A3B6607-D94C-7FD6-5647-871F32E63ACA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D724109-07BF-9C66-8244-668DE1B3C482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06DE2C2D-53CA-DB70-6EAE-752C37F6F422}"/>
              </a:ext>
            </a:extLst>
          </p:cNvPr>
          <p:cNvSpPr/>
          <p:nvPr/>
        </p:nvSpPr>
        <p:spPr>
          <a:xfrm>
            <a:off x="-1663817" y="741438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4501CE2-729A-EE26-3D2E-FAB095FBE7A9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8F108C7-0E1B-4E4D-AEEA-763BC0654FAB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05F0FA1-8EDC-369A-4B32-96F1204B0D86}"/>
              </a:ext>
            </a:extLst>
          </p:cNvPr>
          <p:cNvSpPr/>
          <p:nvPr/>
        </p:nvSpPr>
        <p:spPr>
          <a:xfrm flipV="1">
            <a:off x="12722936" y="6138273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900EB40-D38E-8F94-801F-D7481DAF8511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B1B1C8-E3EB-67B0-FB7D-8B561DC2CD25}"/>
              </a:ext>
            </a:extLst>
          </p:cNvPr>
          <p:cNvSpPr txBox="1"/>
          <p:nvPr/>
        </p:nvSpPr>
        <p:spPr>
          <a:xfrm>
            <a:off x="723306" y="2346296"/>
            <a:ext cx="1684138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to choose each tool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 Cont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.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2. Choose n8n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When you need full control, complex logic, or custom behavior.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Best for advanced workflows, integrations, and AI-powered systems.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Example: building an AI agent, complex approval flows, or multi-step business</a:t>
            </a:r>
          </a:p>
          <a:p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processes.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022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F667F-D098-4A7D-D203-E422A8B5D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93CC1F0-4722-6ABC-EFC8-1C75F37377E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8690720-458E-089D-C87A-DD992A8D051F}"/>
                </a:ext>
              </a:extLst>
            </p:cNvPr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8F51788-83BC-CB34-0D7F-04E4E552A5E4}"/>
                </a:ext>
              </a:extLst>
            </p:cNvPr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637DE42-E6D5-D865-60F4-911DE5247C4C}"/>
              </a:ext>
            </a:extLst>
          </p:cNvPr>
          <p:cNvSpPr/>
          <p:nvPr/>
        </p:nvSpPr>
        <p:spPr>
          <a:xfrm>
            <a:off x="-1725484" y="762738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9500998-F38E-871D-A184-C914752986B6}"/>
              </a:ext>
            </a:extLst>
          </p:cNvPr>
          <p:cNvSpPr/>
          <p:nvPr/>
        </p:nvSpPr>
        <p:spPr>
          <a:xfrm flipH="1" flipV="1">
            <a:off x="16636178" y="-158590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BBCFD24-6E3E-9975-37F2-8FED6DF4FE56}"/>
              </a:ext>
            </a:extLst>
          </p:cNvPr>
          <p:cNvSpPr/>
          <p:nvPr/>
        </p:nvSpPr>
        <p:spPr>
          <a:xfrm flipH="1">
            <a:off x="-3901034" y="-5140051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71315F4-9AB7-8795-4688-8B731B1EA290}"/>
              </a:ext>
            </a:extLst>
          </p:cNvPr>
          <p:cNvSpPr/>
          <p:nvPr/>
        </p:nvSpPr>
        <p:spPr>
          <a:xfrm flipV="1">
            <a:off x="13381269" y="672896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5E7B70E-7C55-C225-A0C7-A02554FAAE00}"/>
              </a:ext>
            </a:extLst>
          </p:cNvPr>
          <p:cNvSpPr txBox="1"/>
          <p:nvPr/>
        </p:nvSpPr>
        <p:spPr>
          <a:xfrm>
            <a:off x="1143000" y="157512"/>
            <a:ext cx="16561588" cy="1755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791"/>
              </a:lnSpc>
            </a:pPr>
            <a:r>
              <a:rPr lang="en-US" sz="8000" b="1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Book" panose="020B0503020102020204" pitchFamily="34" charset="0"/>
                <a:ea typeface="Bangers"/>
                <a:cs typeface="Bangers"/>
                <a:sym typeface="Bangers"/>
              </a:rPr>
              <a:t>Automation Tools Overview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E5495C-F7E4-CB6E-806E-224733E27A69}"/>
              </a:ext>
            </a:extLst>
          </p:cNvPr>
          <p:cNvSpPr txBox="1"/>
          <p:nvPr/>
        </p:nvSpPr>
        <p:spPr>
          <a:xfrm>
            <a:off x="723306" y="2346296"/>
            <a:ext cx="1684138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Why n8n is powerful for custom and AI workflows</a:t>
            </a:r>
            <a:r>
              <a:rPr lang="ar-JO" sz="36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:</a:t>
            </a:r>
            <a:endParaRPr lang="en-US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n8n allows you to control every step of the workflow.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use conditions, loops, custom JavaScript, and advanced error handling.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It connects easily with AI models like OpenAI, local LLMs, or any AI API.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You can build AI-assisted workflows such as chatbots, classifiers, summarizers, and agents.</a:t>
            </a:r>
          </a:p>
          <a:p>
            <a:r>
              <a:rPr lang="en-US" sz="3600" dirty="0">
                <a:solidFill>
                  <a:schemeClr val="accent6"/>
                </a:solidFill>
                <a:latin typeface="Franklin Gothic Book" panose="020B0503020102020204" pitchFamily="34" charset="0"/>
              </a:rPr>
              <a:t>• </a:t>
            </a:r>
            <a:r>
              <a:rPr lang="en-US" sz="3600" dirty="0">
                <a:solidFill>
                  <a:schemeClr val="accent6">
                    <a:lumMod val="20000"/>
                    <a:lumOff val="80000"/>
                  </a:schemeClr>
                </a:solidFill>
                <a:latin typeface="Franklin Gothic Book" panose="020B0503020102020204" pitchFamily="34" charset="0"/>
              </a:rPr>
              <a:t>Because it can be self-hosted, companies have more control over data, security, and costs.</a:t>
            </a:r>
            <a:endParaRPr lang="ar-JO" sz="3600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  <a:p>
            <a:endParaRPr lang="ar-JO" sz="3600" b="1" dirty="0">
              <a:solidFill>
                <a:schemeClr val="accent6">
                  <a:lumMod val="20000"/>
                  <a:lumOff val="80000"/>
                </a:schemeClr>
              </a:solidFill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557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425D7B"/>
            </a:solidFill>
            <a:ln w="1333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ar-J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90801" y="0"/>
            <a:ext cx="21504412" cy="10786683"/>
            <a:chOff x="0" y="0"/>
            <a:chExt cx="28672549" cy="143822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4" y="0"/>
                  </a:lnTo>
                  <a:lnTo>
                    <a:pt x="14382244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JO"/>
            </a:p>
          </p:txBody>
        </p:sp>
        <p:sp>
          <p:nvSpPr>
            <p:cNvPr id="7" name="Freeform 7"/>
            <p:cNvSpPr/>
            <p:nvPr/>
          </p:nvSpPr>
          <p:spPr>
            <a:xfrm>
              <a:off x="14290304" y="0"/>
              <a:ext cx="14382244" cy="14382244"/>
            </a:xfrm>
            <a:custGeom>
              <a:avLst/>
              <a:gdLst/>
              <a:ahLst/>
              <a:cxnLst/>
              <a:rect l="l" t="t" r="r" b="b"/>
              <a:pathLst>
                <a:path w="14382244" h="14382244">
                  <a:moveTo>
                    <a:pt x="0" y="0"/>
                  </a:moveTo>
                  <a:lnTo>
                    <a:pt x="14382245" y="0"/>
                  </a:lnTo>
                  <a:lnTo>
                    <a:pt x="14382245" y="14382244"/>
                  </a:lnTo>
                  <a:lnTo>
                    <a:pt x="0" y="143822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3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ar-JO"/>
            </a:p>
          </p:txBody>
        </p:sp>
      </p:grpSp>
      <p:sp>
        <p:nvSpPr>
          <p:cNvPr id="8" name="Freeform 8"/>
          <p:cNvSpPr/>
          <p:nvPr/>
        </p:nvSpPr>
        <p:spPr>
          <a:xfrm>
            <a:off x="-2778741" y="35986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9" name="Freeform 9"/>
          <p:cNvSpPr/>
          <p:nvPr/>
        </p:nvSpPr>
        <p:spPr>
          <a:xfrm flipH="1" flipV="1">
            <a:off x="16884370" y="24317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0" name="Freeform 10"/>
          <p:cNvSpPr/>
          <p:nvPr/>
        </p:nvSpPr>
        <p:spPr>
          <a:xfrm flipH="1">
            <a:off x="-2778741" y="-4896330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7256755" y="0"/>
                </a:moveTo>
                <a:lnTo>
                  <a:pt x="0" y="0"/>
                </a:lnTo>
                <a:lnTo>
                  <a:pt x="0" y="7982430"/>
                </a:lnTo>
                <a:lnTo>
                  <a:pt x="7256755" y="7982430"/>
                </a:lnTo>
                <a:lnTo>
                  <a:pt x="72567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1" name="Freeform 11"/>
          <p:cNvSpPr/>
          <p:nvPr/>
        </p:nvSpPr>
        <p:spPr>
          <a:xfrm flipH="1">
            <a:off x="15530355" y="-516148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3680876" y="0"/>
                </a:moveTo>
                <a:lnTo>
                  <a:pt x="0" y="0"/>
                </a:lnTo>
                <a:lnTo>
                  <a:pt x="0" y="4114800"/>
                </a:lnTo>
                <a:lnTo>
                  <a:pt x="3680876" y="4114800"/>
                </a:lnTo>
                <a:lnTo>
                  <a:pt x="368087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2" name="Freeform 12"/>
          <p:cNvSpPr/>
          <p:nvPr/>
        </p:nvSpPr>
        <p:spPr>
          <a:xfrm flipV="1">
            <a:off x="13742416" y="7249504"/>
            <a:ext cx="7256755" cy="7982430"/>
          </a:xfrm>
          <a:custGeom>
            <a:avLst/>
            <a:gdLst/>
            <a:ahLst/>
            <a:cxnLst/>
            <a:rect l="l" t="t" r="r" b="b"/>
            <a:pathLst>
              <a:path w="7256755" h="7982430">
                <a:moveTo>
                  <a:pt x="0" y="7982430"/>
                </a:moveTo>
                <a:lnTo>
                  <a:pt x="7256754" y="7982430"/>
                </a:lnTo>
                <a:lnTo>
                  <a:pt x="7256754" y="0"/>
                </a:lnTo>
                <a:lnTo>
                  <a:pt x="0" y="0"/>
                </a:lnTo>
                <a:lnTo>
                  <a:pt x="0" y="79824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3" name="Freeform 13"/>
          <p:cNvSpPr/>
          <p:nvPr/>
        </p:nvSpPr>
        <p:spPr>
          <a:xfrm flipV="1">
            <a:off x="-990801" y="6734595"/>
            <a:ext cx="3680876" cy="4114800"/>
          </a:xfrm>
          <a:custGeom>
            <a:avLst/>
            <a:gdLst/>
            <a:ahLst/>
            <a:cxnLst/>
            <a:rect l="l" t="t" r="r" b="b"/>
            <a:pathLst>
              <a:path w="3680876" h="4114800">
                <a:moveTo>
                  <a:pt x="0" y="4114800"/>
                </a:moveTo>
                <a:lnTo>
                  <a:pt x="3680876" y="4114800"/>
                </a:lnTo>
                <a:lnTo>
                  <a:pt x="368087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4" name="Freeform 14"/>
          <p:cNvSpPr/>
          <p:nvPr/>
        </p:nvSpPr>
        <p:spPr>
          <a:xfrm flipH="1" flipV="1">
            <a:off x="6568093" y="-7171050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9449008" y="8899247"/>
                </a:moveTo>
                <a:lnTo>
                  <a:pt x="0" y="8899247"/>
                </a:lnTo>
                <a:lnTo>
                  <a:pt x="0" y="0"/>
                </a:lnTo>
                <a:lnTo>
                  <a:pt x="9449008" y="0"/>
                </a:lnTo>
                <a:lnTo>
                  <a:pt x="9449008" y="88992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5" name="Freeform 15"/>
          <p:cNvSpPr/>
          <p:nvPr/>
        </p:nvSpPr>
        <p:spPr>
          <a:xfrm>
            <a:off x="2178409" y="8481507"/>
            <a:ext cx="9449008" cy="8899247"/>
          </a:xfrm>
          <a:custGeom>
            <a:avLst/>
            <a:gdLst/>
            <a:ahLst/>
            <a:cxnLst/>
            <a:rect l="l" t="t" r="r" b="b"/>
            <a:pathLst>
              <a:path w="9449008" h="8899247">
                <a:moveTo>
                  <a:pt x="0" y="0"/>
                </a:moveTo>
                <a:lnTo>
                  <a:pt x="9449008" y="0"/>
                </a:lnTo>
                <a:lnTo>
                  <a:pt x="9449008" y="8899247"/>
                </a:lnTo>
                <a:lnTo>
                  <a:pt x="0" y="8899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16" name="TextBox 16"/>
          <p:cNvSpPr txBox="1"/>
          <p:nvPr/>
        </p:nvSpPr>
        <p:spPr>
          <a:xfrm>
            <a:off x="1709747" y="2974892"/>
            <a:ext cx="14868506" cy="351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03"/>
              </a:lnSpc>
            </a:pPr>
            <a:r>
              <a:rPr lang="en-US" sz="21859" dirty="0">
                <a:solidFill>
                  <a:schemeClr val="accent6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ngers"/>
                <a:ea typeface="Bangers"/>
                <a:cs typeface="Bangers"/>
                <a:sym typeface="Bangers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943</Words>
  <Application>Microsoft Office PowerPoint</Application>
  <PresentationFormat>Custom</PresentationFormat>
  <Paragraphs>107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Bangers</vt:lpstr>
      <vt:lpstr>Franklin Gothic Book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Black and Yellow Comic Book Style Presentation</dc:title>
  <cp:lastModifiedBy>محمد اسماعيل عبد القادر اسماعيل</cp:lastModifiedBy>
  <cp:revision>16</cp:revision>
  <dcterms:created xsi:type="dcterms:W3CDTF">2006-08-16T00:00:00Z</dcterms:created>
  <dcterms:modified xsi:type="dcterms:W3CDTF">2026-04-11T18:29:47Z</dcterms:modified>
  <dc:identifier>DAG_0EsxqJs</dc:identifier>
</cp:coreProperties>
</file>