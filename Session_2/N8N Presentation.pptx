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83" r:id="rId2"/>
    <p:sldId id="278" r:id="rId3"/>
    <p:sldId id="279" r:id="rId4"/>
    <p:sldId id="284" r:id="rId5"/>
    <p:sldId id="280" r:id="rId6"/>
    <p:sldId id="281" r:id="rId7"/>
    <p:sldId id="282" r:id="rId8"/>
    <p:sldId id="265" r:id="rId9"/>
  </p:sldIdLst>
  <p:sldSz cx="18288000" cy="10287000"/>
  <p:notesSz cx="6858000" cy="9144000"/>
  <p:embeddedFontLst>
    <p:embeddedFont>
      <p:font typeface="Bangers" panose="020B0604020202020204" charset="0"/>
      <p:regular r:id="rId11"/>
    </p:embeddedFont>
    <p:embeddedFont>
      <p:font typeface="Franklin Gothic Book" panose="020B0503020102020204" pitchFamily="34" charset="0"/>
      <p:regular r:id="rId12"/>
      <p: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2996" autoAdjust="0"/>
  </p:normalViewPr>
  <p:slideViewPr>
    <p:cSldViewPr>
      <p:cViewPr varScale="1">
        <p:scale>
          <a:sx n="45" d="100"/>
          <a:sy n="45" d="100"/>
        </p:scale>
        <p:origin x="81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J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34002523-EBD5-42F4-9DA1-0DF36BB1A508}" type="datetimeFigureOut">
              <a:rPr lang="ar-JO" smtClean="0"/>
              <a:t>26/10/1447</a:t>
            </a:fld>
            <a:endParaRPr lang="ar-J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J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J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E956323A-1177-490B-A143-E75192F7AA10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180803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FF0000"/>
                </a:solidFill>
              </a:rPr>
              <a:t>In short, n8n Cloud is the easiest, Docker is the most flexible, and VPS with EasyPanel is the best balance for real business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6323A-1177-490B-A143-E75192F7AA10}" type="slidenum">
              <a:rPr lang="ar-JO" smtClean="0"/>
              <a:t>5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2176779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87EC8-1811-39CE-E97B-25A36DCB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1E5F0-6BFF-20D4-5428-450E7E849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19F2C4-B34E-19AE-B931-5CB9B5658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F5A36-A3F4-AFA1-458E-23DBADC4B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6323A-1177-490B-A143-E75192F7AA10}" type="slidenum">
              <a:rPr lang="ar-JO" smtClean="0"/>
              <a:t>6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973170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07AAE-2167-068E-00BB-2D793C18F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ADD2D-F7D0-A2A2-A3A0-2D0C1FE7F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3754C5-FF6F-F17B-4EB9-CBB0AA362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07F27-8885-0A91-BBD9-FF8452C43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6323A-1177-490B-A143-E75192F7AA10}" type="slidenum">
              <a:rPr lang="ar-JO" smtClean="0"/>
              <a:t>7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990909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0801" y="0"/>
            <a:ext cx="21504412" cy="10786683"/>
            <a:chOff x="0" y="0"/>
            <a:chExt cx="28672549" cy="143822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82244" cy="14382244"/>
            </a:xfrm>
            <a:custGeom>
              <a:avLst/>
              <a:gdLst/>
              <a:ahLst/>
              <a:cxnLst/>
              <a:rect l="l" t="t" r="r" b="b"/>
              <a:pathLst>
                <a:path w="14382244" h="14382244">
                  <a:moveTo>
                    <a:pt x="0" y="0"/>
                  </a:moveTo>
                  <a:lnTo>
                    <a:pt x="14382244" y="0"/>
                  </a:lnTo>
                  <a:lnTo>
                    <a:pt x="14382244" y="14382244"/>
                  </a:lnTo>
                  <a:lnTo>
                    <a:pt x="0" y="14382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Freeform 7"/>
            <p:cNvSpPr/>
            <p:nvPr/>
          </p:nvSpPr>
          <p:spPr>
            <a:xfrm>
              <a:off x="14290304" y="0"/>
              <a:ext cx="14382244" cy="14382244"/>
            </a:xfrm>
            <a:custGeom>
              <a:avLst/>
              <a:gdLst/>
              <a:ahLst/>
              <a:cxnLst/>
              <a:rect l="l" t="t" r="r" b="b"/>
              <a:pathLst>
                <a:path w="14382244" h="14382244">
                  <a:moveTo>
                    <a:pt x="0" y="0"/>
                  </a:moveTo>
                  <a:lnTo>
                    <a:pt x="14382245" y="0"/>
                  </a:lnTo>
                  <a:lnTo>
                    <a:pt x="14382245" y="14382244"/>
                  </a:lnTo>
                  <a:lnTo>
                    <a:pt x="0" y="14382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-2778741" y="359865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6884370" y="24317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/>
          <p:cNvSpPr/>
          <p:nvPr/>
        </p:nvSpPr>
        <p:spPr>
          <a:xfrm flipH="1">
            <a:off x="-3460538" y="-3991215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/>
          <p:cNvSpPr/>
          <p:nvPr/>
        </p:nvSpPr>
        <p:spPr>
          <a:xfrm flipH="1">
            <a:off x="15530355" y="-516148"/>
            <a:ext cx="3680876" cy="4114800"/>
          </a:xfrm>
          <a:custGeom>
            <a:avLst/>
            <a:gdLst/>
            <a:ahLst/>
            <a:cxnLst/>
            <a:rect l="l" t="t" r="r" b="b"/>
            <a:pathLst>
              <a:path w="3680876" h="4114800">
                <a:moveTo>
                  <a:pt x="3680876" y="0"/>
                </a:moveTo>
                <a:lnTo>
                  <a:pt x="0" y="0"/>
                </a:lnTo>
                <a:lnTo>
                  <a:pt x="0" y="4114800"/>
                </a:lnTo>
                <a:lnTo>
                  <a:pt x="3680876" y="4114800"/>
                </a:lnTo>
                <a:lnTo>
                  <a:pt x="368087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/>
          <p:cNvSpPr/>
          <p:nvPr/>
        </p:nvSpPr>
        <p:spPr>
          <a:xfrm rot="-1431317" flipV="1">
            <a:off x="15220054" y="654651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/>
          <p:cNvSpPr/>
          <p:nvPr/>
        </p:nvSpPr>
        <p:spPr>
          <a:xfrm flipV="1">
            <a:off x="-990801" y="6734595"/>
            <a:ext cx="3680876" cy="4114800"/>
          </a:xfrm>
          <a:custGeom>
            <a:avLst/>
            <a:gdLst/>
            <a:ahLst/>
            <a:cxnLst/>
            <a:rect l="l" t="t" r="r" b="b"/>
            <a:pathLst>
              <a:path w="3680876" h="4114800">
                <a:moveTo>
                  <a:pt x="0" y="4114800"/>
                </a:moveTo>
                <a:lnTo>
                  <a:pt x="3680876" y="4114800"/>
                </a:lnTo>
                <a:lnTo>
                  <a:pt x="368087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 rot="-195015" flipH="1" flipV="1">
            <a:off x="4576002" y="-6466389"/>
            <a:ext cx="9449008" cy="8899247"/>
          </a:xfrm>
          <a:custGeom>
            <a:avLst/>
            <a:gdLst/>
            <a:ahLst/>
            <a:cxnLst/>
            <a:rect l="l" t="t" r="r" b="b"/>
            <a:pathLst>
              <a:path w="9449008" h="8899247">
                <a:moveTo>
                  <a:pt x="9449007" y="8899247"/>
                </a:moveTo>
                <a:lnTo>
                  <a:pt x="0" y="8899247"/>
                </a:lnTo>
                <a:lnTo>
                  <a:pt x="0" y="0"/>
                </a:lnTo>
                <a:lnTo>
                  <a:pt x="9449007" y="0"/>
                </a:lnTo>
                <a:lnTo>
                  <a:pt x="9449007" y="88992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2178409" y="8481507"/>
            <a:ext cx="9449008" cy="8899247"/>
          </a:xfrm>
          <a:custGeom>
            <a:avLst/>
            <a:gdLst/>
            <a:ahLst/>
            <a:cxnLst/>
            <a:rect l="l" t="t" r="r" b="b"/>
            <a:pathLst>
              <a:path w="9449008" h="8899247">
                <a:moveTo>
                  <a:pt x="0" y="0"/>
                </a:moveTo>
                <a:lnTo>
                  <a:pt x="9449008" y="0"/>
                </a:lnTo>
                <a:lnTo>
                  <a:pt x="9449008" y="8899247"/>
                </a:lnTo>
                <a:lnTo>
                  <a:pt x="0" y="88992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274038" y="5656052"/>
            <a:ext cx="3808743" cy="6691508"/>
          </a:xfrm>
          <a:custGeom>
            <a:avLst/>
            <a:gdLst/>
            <a:ahLst/>
            <a:cxnLst/>
            <a:rect l="l" t="t" r="r" b="b"/>
            <a:pathLst>
              <a:path w="3808743" h="6691508">
                <a:moveTo>
                  <a:pt x="0" y="0"/>
                </a:moveTo>
                <a:lnTo>
                  <a:pt x="3808743" y="0"/>
                </a:lnTo>
                <a:lnTo>
                  <a:pt x="3808743" y="6691508"/>
                </a:lnTo>
                <a:lnTo>
                  <a:pt x="0" y="66915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060740" y="6154089"/>
            <a:ext cx="11321114" cy="1022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89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373" b="0" i="0" u="none" strike="noStrike" kern="1200" cap="none" spc="-127" normalizeH="0" baseline="0" noProof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uLnTx/>
                <a:uFillTx/>
                <a:latin typeface="Bangers"/>
                <a:ea typeface="Bangers"/>
                <a:cs typeface="Bangers"/>
                <a:sym typeface="Bangers"/>
              </a:rPr>
              <a:t>By  Mohammad Ismail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6059" y="2527785"/>
            <a:ext cx="14868506" cy="351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60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859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uLnTx/>
                <a:uFillTx/>
                <a:latin typeface="Bangers"/>
                <a:ea typeface="Bangers"/>
                <a:cs typeface="Bangers"/>
                <a:sym typeface="Bangers"/>
              </a:rPr>
              <a:t>N8N COURSE</a:t>
            </a:r>
          </a:p>
        </p:txBody>
      </p:sp>
      <p:sp>
        <p:nvSpPr>
          <p:cNvPr id="19" name="Freeform 19"/>
          <p:cNvSpPr/>
          <p:nvPr/>
        </p:nvSpPr>
        <p:spPr>
          <a:xfrm>
            <a:off x="11875067" y="5656052"/>
            <a:ext cx="6691508" cy="6691508"/>
          </a:xfrm>
          <a:custGeom>
            <a:avLst/>
            <a:gdLst/>
            <a:ahLst/>
            <a:cxnLst/>
            <a:rect l="l" t="t" r="r" b="b"/>
            <a:pathLst>
              <a:path w="6691508" h="6691508">
                <a:moveTo>
                  <a:pt x="0" y="0"/>
                </a:moveTo>
                <a:lnTo>
                  <a:pt x="6691508" y="0"/>
                </a:lnTo>
                <a:lnTo>
                  <a:pt x="6691508" y="6691508"/>
                </a:lnTo>
                <a:lnTo>
                  <a:pt x="0" y="66915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4659623" y="-3820898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0"/>
                </a:moveTo>
                <a:lnTo>
                  <a:pt x="7256754" y="0"/>
                </a:lnTo>
                <a:lnTo>
                  <a:pt x="7256754" y="7982429"/>
                </a:lnTo>
                <a:lnTo>
                  <a:pt x="0" y="79824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15011219" y="-626152"/>
            <a:ext cx="3892452" cy="3563512"/>
          </a:xfrm>
          <a:custGeom>
            <a:avLst/>
            <a:gdLst/>
            <a:ahLst/>
            <a:cxnLst/>
            <a:rect l="l" t="t" r="r" b="b"/>
            <a:pathLst>
              <a:path w="3892452" h="3563512">
                <a:moveTo>
                  <a:pt x="0" y="0"/>
                </a:moveTo>
                <a:lnTo>
                  <a:pt x="3892451" y="0"/>
                </a:lnTo>
                <a:lnTo>
                  <a:pt x="3892451" y="3563512"/>
                </a:lnTo>
                <a:lnTo>
                  <a:pt x="0" y="35635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-9525" y="485344"/>
            <a:ext cx="2892901" cy="1055909"/>
          </a:xfrm>
          <a:custGeom>
            <a:avLst/>
            <a:gdLst/>
            <a:ahLst/>
            <a:cxnLst/>
            <a:rect l="l" t="t" r="r" b="b"/>
            <a:pathLst>
              <a:path w="2892901" h="1055909">
                <a:moveTo>
                  <a:pt x="0" y="0"/>
                </a:moveTo>
                <a:lnTo>
                  <a:pt x="2892901" y="0"/>
                </a:lnTo>
                <a:lnTo>
                  <a:pt x="2892901" y="1055908"/>
                </a:lnTo>
                <a:lnTo>
                  <a:pt x="0" y="10559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5516845" y="-51958"/>
            <a:ext cx="1815909" cy="1541252"/>
          </a:xfrm>
          <a:custGeom>
            <a:avLst/>
            <a:gdLst/>
            <a:ahLst/>
            <a:cxnLst/>
            <a:rect l="l" t="t" r="r" b="b"/>
            <a:pathLst>
              <a:path w="1815909" h="1541252">
                <a:moveTo>
                  <a:pt x="0" y="0"/>
                </a:moveTo>
                <a:lnTo>
                  <a:pt x="1815908" y="0"/>
                </a:lnTo>
                <a:lnTo>
                  <a:pt x="1815908" y="1541252"/>
                </a:lnTo>
                <a:lnTo>
                  <a:pt x="0" y="154125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Freeform 24"/>
          <p:cNvSpPr/>
          <p:nvPr/>
        </p:nvSpPr>
        <p:spPr>
          <a:xfrm rot="-1420551">
            <a:off x="6623898" y="-3408358"/>
            <a:ext cx="5040204" cy="5040204"/>
          </a:xfrm>
          <a:custGeom>
            <a:avLst/>
            <a:gdLst/>
            <a:ahLst/>
            <a:cxnLst/>
            <a:rect l="l" t="t" r="r" b="b"/>
            <a:pathLst>
              <a:path w="5040204" h="5040204">
                <a:moveTo>
                  <a:pt x="0" y="0"/>
                </a:moveTo>
                <a:lnTo>
                  <a:pt x="5040204" y="0"/>
                </a:lnTo>
                <a:lnTo>
                  <a:pt x="5040204" y="5040204"/>
                </a:lnTo>
                <a:lnTo>
                  <a:pt x="0" y="50402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F2D5D-F01E-23C7-D40A-47BC44093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483E37D-EA61-AEE0-6E96-35662A98A018}"/>
              </a:ext>
            </a:extLst>
          </p:cNvPr>
          <p:cNvGrpSpPr/>
          <p:nvPr/>
        </p:nvGrpSpPr>
        <p:grpSpPr>
          <a:xfrm>
            <a:off x="0" y="22506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02AEB06-C297-A395-F8EF-D6CC1A65EF3A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A7BA709-7345-B413-795D-A2476683CD19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2C0CBF8-E757-F744-1325-AE7CEFFD5F36}"/>
              </a:ext>
            </a:extLst>
          </p:cNvPr>
          <p:cNvSpPr/>
          <p:nvPr/>
        </p:nvSpPr>
        <p:spPr>
          <a:xfrm>
            <a:off x="-2586508" y="901775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B35B096-3415-A8DE-428D-56BEF394A084}"/>
              </a:ext>
            </a:extLst>
          </p:cNvPr>
          <p:cNvSpPr/>
          <p:nvPr/>
        </p:nvSpPr>
        <p:spPr>
          <a:xfrm flipH="1" flipV="1">
            <a:off x="16790188" y="-163457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FDB8B4A-DD1C-4067-41C3-DDBCE0E9960C}"/>
              </a:ext>
            </a:extLst>
          </p:cNvPr>
          <p:cNvSpPr/>
          <p:nvPr/>
        </p:nvSpPr>
        <p:spPr>
          <a:xfrm flipH="1">
            <a:off x="-4491119" y="-5446397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97C47BD-884E-F935-D090-E9B8CBBC833C}"/>
              </a:ext>
            </a:extLst>
          </p:cNvPr>
          <p:cNvSpPr/>
          <p:nvPr/>
        </p:nvSpPr>
        <p:spPr>
          <a:xfrm flipV="1">
            <a:off x="15514740" y="8145482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8C5AF91-3EA2-FE42-7426-8E68C44D6C6B}"/>
              </a:ext>
            </a:extLst>
          </p:cNvPr>
          <p:cNvSpPr txBox="1"/>
          <p:nvPr/>
        </p:nvSpPr>
        <p:spPr>
          <a:xfrm>
            <a:off x="1143000" y="157512"/>
            <a:ext cx="16561588" cy="1732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72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n8n Installation and Environment Setup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F365E9-159C-3FE4-7D41-8D3D43DE4CC3}"/>
              </a:ext>
            </a:extLst>
          </p:cNvPr>
          <p:cNvSpPr txBox="1"/>
          <p:nvPr/>
        </p:nvSpPr>
        <p:spPr>
          <a:xfrm>
            <a:off x="723306" y="2034186"/>
            <a:ext cx="16841384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1. n8n Cloud overview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n8n Cloud is the hosted version of n8n managed by the n8n team.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do not need to install anything or manage servers.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just sign up, log in, and start building workflows.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Updates, backups, and infrastructure are handled for you.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is the fastest way to start and best for learning, demos, and small teams.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2. Self-hosted n8n using Docker</a:t>
            </a:r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Self-hosted n8n means you run n8n on your own server or machine using Docker.</a:t>
            </a:r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Docker packages n8n with everything it needs to run, making setup easier and more consistent.</a:t>
            </a:r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This option gives you full control over data, security, and customization.</a:t>
            </a:r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is commonly used by technical teams and companies with privacy or compliance requirements.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166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456B5-749B-5D96-24C2-F3C65DF68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837560F-C2BE-2BB3-9F2A-2A341FB67747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9FCBA83-D7A1-93C7-C5B0-2E44BF81DE5D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3309E16-5ACC-BE15-FA1A-BC54E442F3E9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2B2F7B85-F767-2B3A-28A0-E30DDA2F9CB1}"/>
              </a:ext>
            </a:extLst>
          </p:cNvPr>
          <p:cNvSpPr/>
          <p:nvPr/>
        </p:nvSpPr>
        <p:spPr>
          <a:xfrm>
            <a:off x="-1695747" y="711249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DCE6009-E812-226E-1E83-1FEA8696B29A}"/>
              </a:ext>
            </a:extLst>
          </p:cNvPr>
          <p:cNvSpPr/>
          <p:nvPr/>
        </p:nvSpPr>
        <p:spPr>
          <a:xfrm flipH="1" flipV="1">
            <a:off x="16790188" y="-163457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65F349A-6206-CEF5-6F1E-B4AB1188387A}"/>
              </a:ext>
            </a:extLst>
          </p:cNvPr>
          <p:cNvSpPr/>
          <p:nvPr/>
        </p:nvSpPr>
        <p:spPr>
          <a:xfrm flipH="1">
            <a:off x="-4491119" y="-5446397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1EB54DC-EE4E-E107-1CE3-64E37FD4ED46}"/>
              </a:ext>
            </a:extLst>
          </p:cNvPr>
          <p:cNvSpPr/>
          <p:nvPr/>
        </p:nvSpPr>
        <p:spPr>
          <a:xfrm flipV="1">
            <a:off x="13936312" y="6591137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D917C84-EC18-560C-5C29-AC866C65805E}"/>
              </a:ext>
            </a:extLst>
          </p:cNvPr>
          <p:cNvSpPr txBox="1"/>
          <p:nvPr/>
        </p:nvSpPr>
        <p:spPr>
          <a:xfrm>
            <a:off x="995481" y="151087"/>
            <a:ext cx="16561588" cy="1732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72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n8n Installation and Environment Setup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DB4F52-3DD7-5563-0C94-40126319EEBA}"/>
              </a:ext>
            </a:extLst>
          </p:cNvPr>
          <p:cNvSpPr txBox="1"/>
          <p:nvPr/>
        </p:nvSpPr>
        <p:spPr>
          <a:xfrm>
            <a:off x="723306" y="2034186"/>
            <a:ext cx="1684138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3. VPS deployment using EasyPanel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In this setup, n8n runs on a cloud VPS using a tool like EasyPanel.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EasyPanel provides a simple dashboard to manage Docker apps on a server.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get the benefits of self-hosting without dealing with complex server commands.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This is a popular option for agencies and freelancers managing n8n for multiple clients.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6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       In My Opinion, This Is The Best Option </a:t>
            </a: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775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8DF3A-6D1B-40EE-CDF5-6EBA8211F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63A32A8-3AE4-1EE5-2BF1-CB19724B20AA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A2F71D3-EC3F-87A2-A662-8A3DAE1838B2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1F287BA-9156-4D74-B492-4B6E03DEEE97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14DD1D73-B2BC-774C-5C64-BDA46C738FAB}"/>
              </a:ext>
            </a:extLst>
          </p:cNvPr>
          <p:cNvSpPr/>
          <p:nvPr/>
        </p:nvSpPr>
        <p:spPr>
          <a:xfrm>
            <a:off x="-2057404" y="820638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E094088-1BA1-3BF1-FE98-79557962BEBF}"/>
              </a:ext>
            </a:extLst>
          </p:cNvPr>
          <p:cNvSpPr/>
          <p:nvPr/>
        </p:nvSpPr>
        <p:spPr>
          <a:xfrm flipH="1" flipV="1">
            <a:off x="16790188" y="-163457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21B846F-D1CA-EF88-F7D8-B4F72C330BC7}"/>
              </a:ext>
            </a:extLst>
          </p:cNvPr>
          <p:cNvSpPr/>
          <p:nvPr/>
        </p:nvSpPr>
        <p:spPr>
          <a:xfrm flipH="1">
            <a:off x="-4491119" y="-5446397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D52A96E-8881-9253-329D-98EE5FEACFAA}"/>
              </a:ext>
            </a:extLst>
          </p:cNvPr>
          <p:cNvSpPr/>
          <p:nvPr/>
        </p:nvSpPr>
        <p:spPr>
          <a:xfrm flipV="1">
            <a:off x="14773917" y="697230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9C39830-74A9-A9A0-D39F-97981C120789}"/>
              </a:ext>
            </a:extLst>
          </p:cNvPr>
          <p:cNvSpPr txBox="1"/>
          <p:nvPr/>
        </p:nvSpPr>
        <p:spPr>
          <a:xfrm>
            <a:off x="995481" y="151087"/>
            <a:ext cx="16561588" cy="1732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72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n8n Installation and Environment Setup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56764E-19B4-E629-A00D-88843A0C898E}"/>
              </a:ext>
            </a:extLst>
          </p:cNvPr>
          <p:cNvSpPr txBox="1"/>
          <p:nvPr/>
        </p:nvSpPr>
        <p:spPr>
          <a:xfrm>
            <a:off x="723306" y="2034186"/>
            <a:ext cx="17259894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Why </a:t>
            </a:r>
            <a:r>
              <a:rPr lang="en-US" sz="3600" b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EasyPanel</a:t>
            </a: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is the Best Choice (Deep Dive):</a:t>
            </a:r>
          </a:p>
          <a:p>
            <a:r>
              <a:rPr lang="en-US" sz="36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EasyPanel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is the best option here is exactly why it saves you time: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One-Click SSL (HTTPS): It automatically handles security certificates using Let's </a:t>
            </a: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Encrypt. No need to manually configure Nginx or Apache.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Visual Template System: You don't need to write long Docker Compose files. You just click "Install" on the n8n template.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Database Management: </a:t>
            </a:r>
            <a:r>
              <a:rPr lang="en-US" sz="36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EasyPanel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can spin up a Postgres database for n8n automatically, separating your data from your application (Best Practice).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Backups: You can schedule automated backups directly from the </a:t>
            </a:r>
            <a:r>
              <a:rPr lang="en-US" sz="36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EasyPanel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dashboard.</a:t>
            </a: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735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F44C0-EFD1-77E0-7A3E-1C41F884C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52B6137-6F6B-5635-80A8-B94ADF7199DC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466B812-009A-1F1B-D2AC-3260F7CBA65A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BB7D358-54B1-C64E-D84A-8CC622DC9775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76ADFA8-B8F6-608C-468F-1CCE5D8D612B}"/>
              </a:ext>
            </a:extLst>
          </p:cNvPr>
          <p:cNvSpPr/>
          <p:nvPr/>
        </p:nvSpPr>
        <p:spPr>
          <a:xfrm>
            <a:off x="-2616988" y="863795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EDD4020-ABA1-F19C-DCA3-37FF956C1A49}"/>
              </a:ext>
            </a:extLst>
          </p:cNvPr>
          <p:cNvSpPr/>
          <p:nvPr/>
        </p:nvSpPr>
        <p:spPr>
          <a:xfrm flipH="1" flipV="1">
            <a:off x="16790188" y="-163457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6EA96C5-5603-65AD-C14E-C6A87EBCF6D7}"/>
              </a:ext>
            </a:extLst>
          </p:cNvPr>
          <p:cNvSpPr/>
          <p:nvPr/>
        </p:nvSpPr>
        <p:spPr>
          <a:xfrm flipH="1">
            <a:off x="-4491119" y="-5446397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F7E6781-85F1-2FB3-3FF7-098F531D2D1E}"/>
              </a:ext>
            </a:extLst>
          </p:cNvPr>
          <p:cNvSpPr/>
          <p:nvPr/>
        </p:nvSpPr>
        <p:spPr>
          <a:xfrm flipV="1">
            <a:off x="16154400" y="720090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88F9637-64E4-698C-DB5D-68FE89BA3E48}"/>
              </a:ext>
            </a:extLst>
          </p:cNvPr>
          <p:cNvSpPr txBox="1"/>
          <p:nvPr/>
        </p:nvSpPr>
        <p:spPr>
          <a:xfrm>
            <a:off x="995481" y="151087"/>
            <a:ext cx="16561588" cy="1732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72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n8n Installation and Environment Setup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357BB4-46DF-97AE-A747-9A5DD5C762D8}"/>
              </a:ext>
            </a:extLst>
          </p:cNvPr>
          <p:cNvSpPr txBox="1"/>
          <p:nvPr/>
        </p:nvSpPr>
        <p:spPr>
          <a:xfrm>
            <a:off x="723306" y="2034186"/>
            <a:ext cx="16841384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How to choose the right setup for your business or client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1. Choose n8n Cloud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you want zero maintenance and quick setup.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Best for beginners, proof of concepts, and internal tools.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2. Choose self-hosted with Docker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you need full control over data and advanced customization.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Best for companies with technical teams and strict data requirements.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3. Choose VPS with EasyPanel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you want control and scalability without heavy technical work.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Best for production systems, client projects, and long-term automation platforms.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576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0825D-AA5C-7DC8-E8CB-F3BA42A10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6D66301-032F-3B7C-8A50-BA73722137E9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479173B-87E5-659D-D364-9EB7B0FFF295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B7B82DA-CCA7-0EC7-2137-36A15B91B5E2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36AB02B-DDE7-A4EE-3080-24FE1760FEF7}"/>
              </a:ext>
            </a:extLst>
          </p:cNvPr>
          <p:cNvSpPr/>
          <p:nvPr/>
        </p:nvSpPr>
        <p:spPr>
          <a:xfrm>
            <a:off x="-2057404" y="82296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2B677D5-E66B-3C61-3D02-1CB93B571FAA}"/>
              </a:ext>
            </a:extLst>
          </p:cNvPr>
          <p:cNvSpPr/>
          <p:nvPr/>
        </p:nvSpPr>
        <p:spPr>
          <a:xfrm flipH="1" flipV="1">
            <a:off x="16953902" y="-190631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AA82185-CE63-9515-E92C-2CE88A1DDC1A}"/>
              </a:ext>
            </a:extLst>
          </p:cNvPr>
          <p:cNvSpPr/>
          <p:nvPr/>
        </p:nvSpPr>
        <p:spPr>
          <a:xfrm flipH="1">
            <a:off x="-3810000" y="-6193276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0BF0A29-928A-F6E4-AA4A-37DF8CFF3DEF}"/>
              </a:ext>
            </a:extLst>
          </p:cNvPr>
          <p:cNvSpPr/>
          <p:nvPr/>
        </p:nvSpPr>
        <p:spPr>
          <a:xfrm flipV="1">
            <a:off x="16012900" y="697230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A506CB0-27DE-1952-DC77-1D6648ED6D5C}"/>
              </a:ext>
            </a:extLst>
          </p:cNvPr>
          <p:cNvSpPr txBox="1"/>
          <p:nvPr/>
        </p:nvSpPr>
        <p:spPr>
          <a:xfrm>
            <a:off x="304800" y="151087"/>
            <a:ext cx="17252269" cy="1732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72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Version Control Introduction (Non-Technical)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43788C-68B0-4255-D5B1-7D8FEBA441E1}"/>
              </a:ext>
            </a:extLst>
          </p:cNvPr>
          <p:cNvSpPr txBox="1"/>
          <p:nvPr/>
        </p:nvSpPr>
        <p:spPr>
          <a:xfrm>
            <a:off x="723306" y="2034186"/>
            <a:ext cx="16841384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What GitHub is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GitHub is an online platform used to store and manage project files.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can think of it as a safe place where your work lives, with a full history of every change.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allows people to save versions of their work and go back to any previous version at any time.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For automation projects, it is mainly used to store workflows, configurations, and documentation.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 think that this is a must for anyone working in information and Technology industry but again this is what I think. (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322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E450F-64FE-4504-8B40-9BD216EA0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02B8C55-9916-5812-1580-F8D47FBD68CB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067556E-9AC4-91FF-9681-63E7E659BDBF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56FCF01-ADD3-CD00-399B-53024C5DED14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B058724-D053-4C01-BE2D-7F774934F458}"/>
              </a:ext>
            </a:extLst>
          </p:cNvPr>
          <p:cNvSpPr/>
          <p:nvPr/>
        </p:nvSpPr>
        <p:spPr>
          <a:xfrm>
            <a:off x="-1752600" y="85088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B987184-3FA0-C144-5CC6-73933B4F4FAF}"/>
              </a:ext>
            </a:extLst>
          </p:cNvPr>
          <p:cNvSpPr/>
          <p:nvPr/>
        </p:nvSpPr>
        <p:spPr>
          <a:xfrm flipH="1" flipV="1">
            <a:off x="16953902" y="-190631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AC78A35-5755-8039-B705-EB63AC2E609B}"/>
              </a:ext>
            </a:extLst>
          </p:cNvPr>
          <p:cNvSpPr/>
          <p:nvPr/>
        </p:nvSpPr>
        <p:spPr>
          <a:xfrm flipH="1">
            <a:off x="-3810000" y="-6193276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8E7819C-E368-E935-E0B1-B01D48DE3F58}"/>
              </a:ext>
            </a:extLst>
          </p:cNvPr>
          <p:cNvSpPr/>
          <p:nvPr/>
        </p:nvSpPr>
        <p:spPr>
          <a:xfrm flipV="1">
            <a:off x="16459200" y="712470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5A3DFBD-5102-7D88-76F6-4C167F696CB6}"/>
              </a:ext>
            </a:extLst>
          </p:cNvPr>
          <p:cNvSpPr txBox="1"/>
          <p:nvPr/>
        </p:nvSpPr>
        <p:spPr>
          <a:xfrm>
            <a:off x="304800" y="151087"/>
            <a:ext cx="17252269" cy="1732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72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Version Control Introduction (Non-Technical)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C6F0E2-60BF-1E20-558D-628FECCE1887}"/>
              </a:ext>
            </a:extLst>
          </p:cNvPr>
          <p:cNvSpPr txBox="1"/>
          <p:nvPr/>
        </p:nvSpPr>
        <p:spPr>
          <a:xfrm>
            <a:off x="723306" y="2034186"/>
            <a:ext cx="17252268" cy="769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Connecting n8n to GitHub (The Workflow)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Now that you know </a:t>
            </a:r>
            <a:r>
              <a:rPr lang="en-US" sz="3600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what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GitHub is, here is how it fits into your daily n8n work: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Option A: Manual Export (The Simple Way)</a:t>
            </a:r>
          </a:p>
          <a:p>
            <a:pPr marL="1028700" lvl="1" indent="-571500">
              <a:spcBef>
                <a:spcPts val="600"/>
              </a:spcBef>
              <a:spcAft>
                <a:spcPts val="600"/>
              </a:spcAft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Go to a workflow in n8n -&gt; Click "Download".</a:t>
            </a:r>
          </a:p>
          <a:p>
            <a:pPr marL="1028700" lvl="1" indent="-571500">
              <a:spcBef>
                <a:spcPts val="600"/>
              </a:spcBef>
              <a:spcAft>
                <a:spcPts val="600"/>
              </a:spcAft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Upload that </a:t>
            </a: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.</a:t>
            </a:r>
            <a:r>
              <a:rPr lang="en-US" sz="3600" b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json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file to your GitHub repository.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Option B: Git Integration (The Pro Way)</a:t>
            </a:r>
          </a:p>
          <a:p>
            <a:pPr marL="1028700" lvl="1" indent="-571500">
              <a:spcBef>
                <a:spcPts val="600"/>
              </a:spcBef>
              <a:spcAft>
                <a:spcPts val="600"/>
              </a:spcAft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n8n has a built-in feature to connect directly to a GitHub repository.</a:t>
            </a:r>
          </a:p>
          <a:p>
            <a:pPr marL="1028700" lvl="1" indent="-571500">
              <a:spcBef>
                <a:spcPts val="600"/>
              </a:spcBef>
              <a:spcAft>
                <a:spcPts val="600"/>
              </a:spcAft>
              <a:buClr>
                <a:schemeClr val="accent6">
                  <a:lumMod val="75000"/>
                </a:schemeClr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can "Push" changes to GitHub and "Pull" updates from inside n8n.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This ensures that every time you save a workflow, a digital copy is safely stored in the cloud.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            </a:t>
            </a:r>
            <a:r>
              <a:rPr lang="en-US" sz="4800" b="1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But Git Integration is only available For Enterprise Plan</a:t>
            </a:r>
            <a:endParaRPr lang="ar-JO" sz="3600" dirty="0">
              <a:solidFill>
                <a:schemeClr val="accent6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38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0801" y="0"/>
            <a:ext cx="21504412" cy="10786683"/>
            <a:chOff x="0" y="0"/>
            <a:chExt cx="28672549" cy="143822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82244" cy="14382244"/>
            </a:xfrm>
            <a:custGeom>
              <a:avLst/>
              <a:gdLst/>
              <a:ahLst/>
              <a:cxnLst/>
              <a:rect l="l" t="t" r="r" b="b"/>
              <a:pathLst>
                <a:path w="14382244" h="14382244">
                  <a:moveTo>
                    <a:pt x="0" y="0"/>
                  </a:moveTo>
                  <a:lnTo>
                    <a:pt x="14382244" y="0"/>
                  </a:lnTo>
                  <a:lnTo>
                    <a:pt x="14382244" y="14382244"/>
                  </a:lnTo>
                  <a:lnTo>
                    <a:pt x="0" y="14382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JO"/>
            </a:p>
          </p:txBody>
        </p:sp>
        <p:sp>
          <p:nvSpPr>
            <p:cNvPr id="7" name="Freeform 7"/>
            <p:cNvSpPr/>
            <p:nvPr/>
          </p:nvSpPr>
          <p:spPr>
            <a:xfrm>
              <a:off x="14290304" y="0"/>
              <a:ext cx="14382244" cy="14382244"/>
            </a:xfrm>
            <a:custGeom>
              <a:avLst/>
              <a:gdLst/>
              <a:ahLst/>
              <a:cxnLst/>
              <a:rect l="l" t="t" r="r" b="b"/>
              <a:pathLst>
                <a:path w="14382244" h="14382244">
                  <a:moveTo>
                    <a:pt x="0" y="0"/>
                  </a:moveTo>
                  <a:lnTo>
                    <a:pt x="14382245" y="0"/>
                  </a:lnTo>
                  <a:lnTo>
                    <a:pt x="14382245" y="14382244"/>
                  </a:lnTo>
                  <a:lnTo>
                    <a:pt x="0" y="14382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JO"/>
            </a:p>
          </p:txBody>
        </p:sp>
      </p:grpSp>
      <p:sp>
        <p:nvSpPr>
          <p:cNvPr id="8" name="Freeform 8"/>
          <p:cNvSpPr/>
          <p:nvPr/>
        </p:nvSpPr>
        <p:spPr>
          <a:xfrm>
            <a:off x="-2778741" y="359865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9" name="Freeform 9"/>
          <p:cNvSpPr/>
          <p:nvPr/>
        </p:nvSpPr>
        <p:spPr>
          <a:xfrm flipH="1" flipV="1">
            <a:off x="16884370" y="24317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0" name="Freeform 10"/>
          <p:cNvSpPr/>
          <p:nvPr/>
        </p:nvSpPr>
        <p:spPr>
          <a:xfrm flipH="1">
            <a:off x="-2778741" y="-489633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1" name="Freeform 11"/>
          <p:cNvSpPr/>
          <p:nvPr/>
        </p:nvSpPr>
        <p:spPr>
          <a:xfrm flipH="1">
            <a:off x="15530355" y="-516148"/>
            <a:ext cx="3680876" cy="4114800"/>
          </a:xfrm>
          <a:custGeom>
            <a:avLst/>
            <a:gdLst/>
            <a:ahLst/>
            <a:cxnLst/>
            <a:rect l="l" t="t" r="r" b="b"/>
            <a:pathLst>
              <a:path w="3680876" h="4114800">
                <a:moveTo>
                  <a:pt x="3680876" y="0"/>
                </a:moveTo>
                <a:lnTo>
                  <a:pt x="0" y="0"/>
                </a:lnTo>
                <a:lnTo>
                  <a:pt x="0" y="4114800"/>
                </a:lnTo>
                <a:lnTo>
                  <a:pt x="3680876" y="4114800"/>
                </a:lnTo>
                <a:lnTo>
                  <a:pt x="368087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2" name="Freeform 12"/>
          <p:cNvSpPr/>
          <p:nvPr/>
        </p:nvSpPr>
        <p:spPr>
          <a:xfrm flipV="1">
            <a:off x="13742416" y="7249504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3" name="Freeform 13"/>
          <p:cNvSpPr/>
          <p:nvPr/>
        </p:nvSpPr>
        <p:spPr>
          <a:xfrm flipV="1">
            <a:off x="-990801" y="6734595"/>
            <a:ext cx="3680876" cy="4114800"/>
          </a:xfrm>
          <a:custGeom>
            <a:avLst/>
            <a:gdLst/>
            <a:ahLst/>
            <a:cxnLst/>
            <a:rect l="l" t="t" r="r" b="b"/>
            <a:pathLst>
              <a:path w="3680876" h="4114800">
                <a:moveTo>
                  <a:pt x="0" y="4114800"/>
                </a:moveTo>
                <a:lnTo>
                  <a:pt x="3680876" y="4114800"/>
                </a:lnTo>
                <a:lnTo>
                  <a:pt x="368087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4" name="Freeform 14"/>
          <p:cNvSpPr/>
          <p:nvPr/>
        </p:nvSpPr>
        <p:spPr>
          <a:xfrm flipH="1" flipV="1">
            <a:off x="6568093" y="-7171050"/>
            <a:ext cx="9449008" cy="8899247"/>
          </a:xfrm>
          <a:custGeom>
            <a:avLst/>
            <a:gdLst/>
            <a:ahLst/>
            <a:cxnLst/>
            <a:rect l="l" t="t" r="r" b="b"/>
            <a:pathLst>
              <a:path w="9449008" h="8899247">
                <a:moveTo>
                  <a:pt x="9449008" y="8899247"/>
                </a:moveTo>
                <a:lnTo>
                  <a:pt x="0" y="8899247"/>
                </a:lnTo>
                <a:lnTo>
                  <a:pt x="0" y="0"/>
                </a:lnTo>
                <a:lnTo>
                  <a:pt x="9449008" y="0"/>
                </a:lnTo>
                <a:lnTo>
                  <a:pt x="9449008" y="88992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5" name="Freeform 15"/>
          <p:cNvSpPr/>
          <p:nvPr/>
        </p:nvSpPr>
        <p:spPr>
          <a:xfrm>
            <a:off x="2178409" y="8481507"/>
            <a:ext cx="9449008" cy="8899247"/>
          </a:xfrm>
          <a:custGeom>
            <a:avLst/>
            <a:gdLst/>
            <a:ahLst/>
            <a:cxnLst/>
            <a:rect l="l" t="t" r="r" b="b"/>
            <a:pathLst>
              <a:path w="9449008" h="8899247">
                <a:moveTo>
                  <a:pt x="0" y="0"/>
                </a:moveTo>
                <a:lnTo>
                  <a:pt x="9449008" y="0"/>
                </a:lnTo>
                <a:lnTo>
                  <a:pt x="9449008" y="8899247"/>
                </a:lnTo>
                <a:lnTo>
                  <a:pt x="0" y="88992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6" name="TextBox 16"/>
          <p:cNvSpPr txBox="1"/>
          <p:nvPr/>
        </p:nvSpPr>
        <p:spPr>
          <a:xfrm>
            <a:off x="1709747" y="2974892"/>
            <a:ext cx="14868506" cy="351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3"/>
              </a:lnSpc>
            </a:pPr>
            <a:r>
              <a:rPr lang="en-US" sz="21859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gers"/>
                <a:ea typeface="Bangers"/>
                <a:cs typeface="Bangers"/>
                <a:sym typeface="Bangers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753</Words>
  <Application>Microsoft Office PowerPoint</Application>
  <PresentationFormat>Custom</PresentationFormat>
  <Paragraphs>65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Bangers</vt:lpstr>
      <vt:lpstr>Wingdings</vt:lpstr>
      <vt:lpstr>Calibri</vt:lpstr>
      <vt:lpstr>Franklin Gothic Book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Black and Yellow Comic Book Style Presentation</dc:title>
  <cp:lastModifiedBy>محمد اسماعيل عبد القادر اسماعيل</cp:lastModifiedBy>
  <cp:revision>17</cp:revision>
  <dcterms:created xsi:type="dcterms:W3CDTF">2006-08-16T00:00:00Z</dcterms:created>
  <dcterms:modified xsi:type="dcterms:W3CDTF">2026-04-13T18:36:41Z</dcterms:modified>
  <dc:identifier>DAG_0EsxqJs</dc:identifier>
</cp:coreProperties>
</file>